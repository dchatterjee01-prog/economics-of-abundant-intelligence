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Global Avg HISI Forecast by Scenario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Aggressive Automation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2026</c:v>
                  </c:pt>
                  <c:pt idx="1">
                    <c:v>2028</c:v>
                  </c:pt>
                  <c:pt idx="2">
                    <c:v>2030</c:v>
                  </c:pt>
                  <c:pt idx="3">
                    <c:v>2032</c:v>
                  </c:pt>
                  <c:pt idx="4">
                    <c:v>2034</c:v>
                  </c:pt>
                  <c:pt idx="5">
                    <c:v>2036</c:v>
                  </c:pt>
                  <c:pt idx="6">
                    <c:v>2038</c:v>
                  </c:pt>
                  <c:pt idx="7">
                    <c:v>2040</c:v>
                  </c:pt>
                  <c:pt idx="8">
                    <c:v>2042</c:v>
                  </c:pt>
                  <c:pt idx="9">
                    <c:v>2044</c:v>
                  </c:pt>
                  <c:pt idx="10">
                    <c:v>2046</c:v>
                  </c:pt>
                  <c:pt idx="11">
                    <c:v>2048</c:v>
                  </c:pt>
                  <c:pt idx="12">
                    <c:v>2050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45.2</c:v>
                </c:pt>
                <c:pt idx="1">
                  <c:v>44.8</c:v>
                </c:pt>
                <c:pt idx="2">
                  <c:v>44.4</c:v>
                </c:pt>
                <c:pt idx="3">
                  <c:v>44.1</c:v>
                </c:pt>
                <c:pt idx="4">
                  <c:v>43.8</c:v>
                </c:pt>
                <c:pt idx="5">
                  <c:v>43.5</c:v>
                </c:pt>
                <c:pt idx="6">
                  <c:v>43.2</c:v>
                </c:pt>
                <c:pt idx="7">
                  <c:v>43</c:v>
                </c:pt>
                <c:pt idx="8">
                  <c:v>42.9</c:v>
                </c:pt>
                <c:pt idx="9">
                  <c:v>42.8</c:v>
                </c:pt>
                <c:pt idx="10">
                  <c:v>42.7</c:v>
                </c:pt>
                <c:pt idx="11">
                  <c:v>42.6</c:v>
                </c:pt>
                <c:pt idx="12">
                  <c:v>42.6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Equitable Adaptation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2026</c:v>
                  </c:pt>
                  <c:pt idx="1">
                    <c:v>2028</c:v>
                  </c:pt>
                  <c:pt idx="2">
                    <c:v>2030</c:v>
                  </c:pt>
                  <c:pt idx="3">
                    <c:v>2032</c:v>
                  </c:pt>
                  <c:pt idx="4">
                    <c:v>2034</c:v>
                  </c:pt>
                  <c:pt idx="5">
                    <c:v>2036</c:v>
                  </c:pt>
                  <c:pt idx="6">
                    <c:v>2038</c:v>
                  </c:pt>
                  <c:pt idx="7">
                    <c:v>2040</c:v>
                  </c:pt>
                  <c:pt idx="8">
                    <c:v>2042</c:v>
                  </c:pt>
                  <c:pt idx="9">
                    <c:v>2044</c:v>
                  </c:pt>
                  <c:pt idx="10">
                    <c:v>2046</c:v>
                  </c:pt>
                  <c:pt idx="11">
                    <c:v>2048</c:v>
                  </c:pt>
                  <c:pt idx="12">
                    <c:v>2050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45.5</c:v>
                </c:pt>
                <c:pt idx="1">
                  <c:v>45.9</c:v>
                </c:pt>
                <c:pt idx="2">
                  <c:v>46.2</c:v>
                </c:pt>
                <c:pt idx="3">
                  <c:v>46.6</c:v>
                </c:pt>
                <c:pt idx="4">
                  <c:v>47</c:v>
                </c:pt>
                <c:pt idx="5">
                  <c:v>47.3</c:v>
                </c:pt>
                <c:pt idx="6">
                  <c:v>47.6</c:v>
                </c:pt>
                <c:pt idx="7">
                  <c:v>47.9</c:v>
                </c:pt>
                <c:pt idx="8">
                  <c:v>48.1</c:v>
                </c:pt>
                <c:pt idx="9">
                  <c:v>48.3</c:v>
                </c:pt>
                <c:pt idx="10">
                  <c:v>48.4</c:v>
                </c:pt>
                <c:pt idx="11">
                  <c:v>48.5</c:v>
                </c:pt>
                <c:pt idx="12">
                  <c:v>48.5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  <c:min val="40"/>
        </c:scaling>
        <c:delete val="0"/>
        <c:axPos val="l"/>
        <c:majorGridlines>
          <c:spPr>
            <a:ln w="6350" cap="flat">
              <a:solidFill>
                <a:srgbClr val="1E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233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0E0E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0E0EF"/>
                </a:solidFill>
                <a:latin typeface="Arial"/>
              </a:rPr>
              <a:t>AI Exposure Coef by Region (TWFE on Labor Income Share)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Exposure Coefficient on Labor Income Share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0AE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0AE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0AEC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0AEC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SAS</c:v>
                  </c:pt>
                  <c:pt idx="1">
                    <c:v>ECS</c:v>
                  </c:pt>
                  <c:pt idx="2">
                    <c:v>MEA</c:v>
                  </c:pt>
                  <c:pt idx="3">
                    <c:v>SSF</c:v>
                  </c:pt>
                  <c:pt idx="4">
                    <c:v>EAS</c:v>
                  </c:pt>
                  <c:pt idx="5">
                    <c:v>LCN</c:v>
                  </c:pt>
                  <c:pt idx="6">
                    <c:v>NAC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-0.452</c:v>
                </c:pt>
                <c:pt idx="1">
                  <c:v>-0.031</c:v>
                </c:pt>
                <c:pt idx="2">
                  <c:v>0.009</c:v>
                </c:pt>
                <c:pt idx="3">
                  <c:v>-0.12</c:v>
                </c:pt>
                <c:pt idx="4">
                  <c:v>0.073</c:v>
                </c:pt>
                <c:pt idx="5">
                  <c:v>0.279</c:v>
                </c:pt>
                <c:pt idx="6">
                  <c:v>0.432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233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Present the research scope: 264 countries, 25 years, production-grade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research questions. Each maps to a specific econometric model and HISI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source tables, 3-stage imputation. All paths derived dynamically. KNN fills structural missingness after rolling fill.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TWFE model with entity + time FE. Hausman confirms FE over RE. All SE clustered at country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HISI construction: PCA weights, normalized 0-100, clustered via GMM into 3 segments.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GMM clustering segments 264 countries. Note: countries appear in multiple clusters across years as conditions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trained with rolling CV. Scenario gap at 2050: 5.9 HISI points. Labor income share dominates feature importance.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findings. Findings 1-3 are the core AI labor market results. Findings 4-6 are structural amplifiers.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Regional heterogeneity is the most policy-relevant finding. Same AI exposure, opposite effects by region.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pipeline: 6 phases, end-to-end reproducible. SQLite + Python for portability. Streamlit for live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Engineering: CTEs join 4 tables. Window functions compute rolling HISI and YoY change. All results from real database queries on hisi_panel.db.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IV2SLS confirms TWFE is conservative. XGBoost independently validates labor share and Gini as primary HISI drivers. Methodological convergence strengthens causal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Three policy imperatives: Protect, Invest, Measure. All grounded in empirical coefficients.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5577840" cy="68580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731520" cy="685800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 OF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5943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ABUNDANT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Wins, Who Falls, and Who Adapts?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321868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Evidence on Income Stability and Career Sustainability in the AI Era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2286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096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DAIPAYAN CHATTERJEE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44622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Economics · Quantitative Economics &amp; Econometrics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864608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58952" y="4828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daipayanchatterjee01@gmail.com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16636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8952" y="5129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github.com/dchatterjee01-prog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903720" y="640080"/>
            <a:ext cx="4846320" cy="1097280"/>
          </a:xfrm>
          <a:prstGeom prst="roundRect">
            <a:avLst>
              <a:gd name="adj" fmla="val 6667"/>
            </a:avLst>
          </a:prstGeom>
          <a:solidFill>
            <a:srgbClr val="0D1B2A">
              <a:alpha val="70000"/>
            </a:srgbClr>
          </a:solidFill>
          <a:ln w="12700">
            <a:solidFill>
              <a:srgbClr val="90E0E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995160" y="71323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264</a:t>
            </a:r>
            <a:endParaRPr lang="en-US" sz="4000" dirty="0"/>
          </a:p>
        </p:txBody>
      </p:sp>
      <p:sp>
        <p:nvSpPr>
          <p:cNvPr id="18" name="Text 14"/>
          <p:cNvSpPr/>
          <p:nvPr/>
        </p:nvSpPr>
        <p:spPr>
          <a:xfrm>
            <a:off x="6995160" y="12984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Analyzed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903720" y="2057400"/>
            <a:ext cx="4846320" cy="1097280"/>
          </a:xfrm>
          <a:prstGeom prst="roundRect">
            <a:avLst>
              <a:gd name="adj" fmla="val 6667"/>
            </a:avLst>
          </a:prstGeom>
          <a:solidFill>
            <a:srgbClr val="0D1B2A">
              <a:alpha val="70000"/>
            </a:srgbClr>
          </a:solidFill>
          <a:ln w="12700">
            <a:solidFill>
              <a:srgbClr val="90E0E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995160" y="21305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000" dirty="0"/>
          </a:p>
        </p:txBody>
      </p:sp>
      <p:sp>
        <p:nvSpPr>
          <p:cNvPr id="21" name="Text 17"/>
          <p:cNvSpPr/>
          <p:nvPr/>
        </p:nvSpPr>
        <p:spPr>
          <a:xfrm>
            <a:off x="6995160" y="27157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(2000–2025)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903720" y="3474720"/>
            <a:ext cx="4846320" cy="1097280"/>
          </a:xfrm>
          <a:prstGeom prst="roundRect">
            <a:avLst>
              <a:gd name="adj" fmla="val 6667"/>
            </a:avLst>
          </a:prstGeom>
          <a:solidFill>
            <a:srgbClr val="0D1B2A">
              <a:alpha val="70000"/>
            </a:srgbClr>
          </a:solidFill>
          <a:ln w="12700">
            <a:solidFill>
              <a:srgbClr val="90E0E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995160" y="354787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6,774</a:t>
            </a:r>
            <a:endParaRPr lang="en-US" sz="4000" dirty="0"/>
          </a:p>
        </p:txBody>
      </p:sp>
      <p:sp>
        <p:nvSpPr>
          <p:cNvPr id="24" name="Text 20"/>
          <p:cNvSpPr/>
          <p:nvPr/>
        </p:nvSpPr>
        <p:spPr>
          <a:xfrm>
            <a:off x="6995160" y="41330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Observations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903720" y="4892040"/>
            <a:ext cx="4846320" cy="1097280"/>
          </a:xfrm>
          <a:prstGeom prst="roundRect">
            <a:avLst>
              <a:gd name="adj" fmla="val 6667"/>
            </a:avLst>
          </a:prstGeom>
          <a:solidFill>
            <a:srgbClr val="0D1B2A">
              <a:alpha val="70000"/>
            </a:srgbClr>
          </a:solidFill>
          <a:ln w="12700">
            <a:solidFill>
              <a:srgbClr val="90E0E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6995160" y="496519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4000" dirty="0"/>
          </a:p>
        </p:txBody>
      </p:sp>
      <p:sp>
        <p:nvSpPr>
          <p:cNvPr id="27" name="Text 23"/>
          <p:cNvSpPr/>
          <p:nvPr/>
        </p:nvSpPr>
        <p:spPr>
          <a:xfrm>
            <a:off x="6995160" y="55504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questions driving this investigation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3703320" cy="53492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97280"/>
            <a:ext cx="3703320" cy="502920"/>
          </a:xfrm>
          <a:prstGeom prst="roundRect">
            <a:avLst>
              <a:gd name="adj" fmla="val 2181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17320"/>
            <a:ext cx="370332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612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6916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The Displacement Question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304288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AI exposure systematically erode labor income share and elevate labor market stress across heterogeneous economies?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4370832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0F6FA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44622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4736592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ai_exposure_proxy → +0.143* on Labor Market Stress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97680" y="1097280"/>
            <a:ext cx="3703320" cy="53492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97680" y="1097280"/>
            <a:ext cx="3703320" cy="502920"/>
          </a:xfrm>
          <a:prstGeom prst="roundRect">
            <a:avLst>
              <a:gd name="adj" fmla="val 2181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7680" y="1417320"/>
            <a:ext cx="3703320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161288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34840" y="16916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The Buffer Question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434840" y="2304288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institutional buffers — social protection, R&amp;D investment, human capital — mediate the negative labor market effects of AI adoption?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434840" y="4370832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0F6FA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26280" y="44622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526280" y="4736592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tech_vulnerability_index → −0.214** (R&amp;D buffers AI shock)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183880" y="1097280"/>
            <a:ext cx="3703320" cy="53492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183880" y="1097280"/>
            <a:ext cx="3703320" cy="502920"/>
          </a:xfrm>
          <a:prstGeom prst="roundRect">
            <a:avLst>
              <a:gd name="adj" fmla="val 21818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183880" y="1417320"/>
            <a:ext cx="3703320" cy="182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61288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321040" y="16916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The Convergence Question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8321040" y="2304288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global distribution of AI-era outcomes converging or diverging across income groups and regions? Who wins, who falls, who adapts?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321040" y="4370832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0F6FA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412480" y="44622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412480" y="4736592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HISI Range: 19.5 (QAT) → 88.5 (ISL) — Divergence confirmed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DATA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5-table SQLite relational schema · 3-stage imputation · 74% missingness threshold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103120" cy="1920240"/>
          </a:xfrm>
          <a:prstGeom prst="roundRect">
            <a:avLst>
              <a:gd name="adj" fmla="val 4762"/>
            </a:avLst>
          </a:prstGeom>
          <a:solidFill>
            <a:srgbClr val="132337"/>
          </a:solidFill>
          <a:ln w="12700">
            <a:solidFill>
              <a:srgbClr val="00B4D8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234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7556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country_metadata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 countries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24328" y="1143000"/>
            <a:ext cx="2103120" cy="1920240"/>
          </a:xfrm>
          <a:prstGeom prst="roundRect">
            <a:avLst>
              <a:gd name="adj" fmla="val 4762"/>
            </a:avLst>
          </a:prstGeom>
          <a:solidFill>
            <a:srgbClr val="132337"/>
          </a:solidFill>
          <a:ln w="12700">
            <a:solidFill>
              <a:srgbClr val="F4A261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2344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15768" y="17556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macro_economic_core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715768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· 14 indicators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928616" y="1143000"/>
            <a:ext cx="2103120" cy="1920240"/>
          </a:xfrm>
          <a:prstGeom prst="roundRect">
            <a:avLst>
              <a:gd name="adj" fmla="val 4762"/>
            </a:avLst>
          </a:prstGeom>
          <a:solidFill>
            <a:srgbClr val="132337"/>
          </a:solidFill>
          <a:ln w="12700">
            <a:solidFill>
              <a:srgbClr val="06D6A0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856" y="12344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20056" y="17556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labor_dynamics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020056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ILOSTAT · 4 indicators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232904" y="1143000"/>
            <a:ext cx="2103120" cy="1920240"/>
          </a:xfrm>
          <a:prstGeom prst="roundRect">
            <a:avLst>
              <a:gd name="adj" fmla="val 4762"/>
            </a:avLst>
          </a:prstGeom>
          <a:solidFill>
            <a:srgbClr val="132337"/>
          </a:solidFill>
          <a:ln w="12700">
            <a:solidFill>
              <a:srgbClr val="90E0E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2344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24344" y="17556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ai_vibrancy_readiness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7324344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AI Index · 5 vars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9537192" y="1143000"/>
            <a:ext cx="2103120" cy="1920240"/>
          </a:xfrm>
          <a:prstGeom prst="roundRect">
            <a:avLst>
              <a:gd name="adj" fmla="val 4762"/>
            </a:avLst>
          </a:prstGeom>
          <a:solidFill>
            <a:srgbClr val="132337"/>
          </a:solidFill>
          <a:ln w="12700">
            <a:solidFill>
              <a:srgbClr val="E6394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432" y="123444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28632" y="17556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institutional_buffers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9628632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IMF/WB · 5 indicators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2331720" y="210312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636008" y="210312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940296" y="210312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9244584" y="210312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20040" y="3291840"/>
            <a:ext cx="11521440" cy="1508760"/>
          </a:xfrm>
          <a:prstGeom prst="roundRect">
            <a:avLst>
              <a:gd name="adj" fmla="val 6061"/>
            </a:avLst>
          </a:prstGeom>
          <a:solidFill>
            <a:srgbClr val="132337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548640" y="34015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IMPUTATION PIPELINE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502920" y="37490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0D1B2A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48640" y="377647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Outer Merge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(iso_alpha3 + year)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2807208" y="37490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0D1B2A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2852928" y="377647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Drop &gt;74%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columns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111496" y="37490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0D1B2A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157216" y="377647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Rolling ffill/bfill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country (w=3)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7415784" y="37490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0D1B2A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461504" y="377647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KNNImputer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(k=5, structural gaps)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9720072" y="37490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0D1B2A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9765792" y="377647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master_panel_imputed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6,774 rows · 31 cols · 0% null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320040" y="4983480"/>
            <a:ext cx="11521440" cy="1508760"/>
          </a:xfrm>
          <a:prstGeom prst="roundRect">
            <a:avLst>
              <a:gd name="adj" fmla="val 6061"/>
            </a:avLst>
          </a:prstGeom>
          <a:solidFill>
            <a:srgbClr val="0077A8">
              <a:alpha val="3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548640" y="5074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6,774</a:t>
            </a:r>
            <a:endParaRPr lang="en-US" sz="2600" dirty="0"/>
          </a:p>
        </p:txBody>
      </p:sp>
      <p:sp>
        <p:nvSpPr>
          <p:cNvPr id="43" name="Text 36"/>
          <p:cNvSpPr/>
          <p:nvPr/>
        </p:nvSpPr>
        <p:spPr>
          <a:xfrm>
            <a:off x="548640" y="5650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Observations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2468880" y="5074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264</a:t>
            </a:r>
            <a:endParaRPr lang="en-US" sz="2600" dirty="0"/>
          </a:p>
        </p:txBody>
      </p:sp>
      <p:sp>
        <p:nvSpPr>
          <p:cNvPr id="45" name="Text 38"/>
          <p:cNvSpPr/>
          <p:nvPr/>
        </p:nvSpPr>
        <p:spPr>
          <a:xfrm>
            <a:off x="2468880" y="5650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4389120" y="5074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2000–2025</a:t>
            </a:r>
            <a:endParaRPr lang="en-US" sz="2600" dirty="0"/>
          </a:p>
        </p:txBody>
      </p:sp>
      <p:sp>
        <p:nvSpPr>
          <p:cNvPr id="47" name="Text 40"/>
          <p:cNvSpPr/>
          <p:nvPr/>
        </p:nvSpPr>
        <p:spPr>
          <a:xfrm>
            <a:off x="4389120" y="5650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6309360" y="5074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2600" dirty="0"/>
          </a:p>
        </p:txBody>
      </p:sp>
      <p:sp>
        <p:nvSpPr>
          <p:cNvPr id="49" name="Text 42"/>
          <p:cNvSpPr/>
          <p:nvPr/>
        </p:nvSpPr>
        <p:spPr>
          <a:xfrm>
            <a:off x="6309360" y="5650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000" dirty="0"/>
          </a:p>
        </p:txBody>
      </p:sp>
      <p:sp>
        <p:nvSpPr>
          <p:cNvPr id="50" name="Text 43"/>
          <p:cNvSpPr/>
          <p:nvPr/>
        </p:nvSpPr>
        <p:spPr>
          <a:xfrm>
            <a:off x="8229600" y="5074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2600" dirty="0"/>
          </a:p>
        </p:txBody>
      </p:sp>
      <p:sp>
        <p:nvSpPr>
          <p:cNvPr id="51" name="Text 44"/>
          <p:cNvSpPr/>
          <p:nvPr/>
        </p:nvSpPr>
        <p:spPr>
          <a:xfrm>
            <a:off x="8229600" y="5650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Threshold</a:t>
            </a:r>
            <a:endParaRPr lang="en-US" sz="1000" dirty="0"/>
          </a:p>
        </p:txBody>
      </p:sp>
      <p:sp>
        <p:nvSpPr>
          <p:cNvPr id="52" name="Text 45"/>
          <p:cNvSpPr/>
          <p:nvPr/>
        </p:nvSpPr>
        <p:spPr>
          <a:xfrm>
            <a:off x="10149840" y="5074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0.00%</a:t>
            </a:r>
            <a:endParaRPr lang="en-US" sz="2600" dirty="0"/>
          </a:p>
        </p:txBody>
      </p:sp>
      <p:sp>
        <p:nvSpPr>
          <p:cNvPr id="53" name="Text 46"/>
          <p:cNvSpPr/>
          <p:nvPr/>
        </p:nvSpPr>
        <p:spPr>
          <a:xfrm>
            <a:off x="10149840" y="5650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Missing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ECONOMETRIC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Fixed Effects · Hausman Test · IV/2SLS Robustness · Clustered Standard Errors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74066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704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TWFE Model Specification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Yᵢₜ = β₀ + β₁(AI_Exposureᵢₜ) + β₂(Tech_Investᵢₜ) + γXᵢₜ + αᵢ + δₜ + εᵢₜ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21762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αᵢ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Country Fixed Effects  |  </a:t>
            </a:r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δₜ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Year Fixed Effects  |  </a:t>
            </a:r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SE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country level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7860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Hausman Test: H-stat ≥ 69.3, p = 0.000 for all models → Fixed Effects formally confirmed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01000" y="1078992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0D1B2A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1170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HAUSMAN TEST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83880" y="1508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83880" y="1810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Income Share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222992" y="18105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899648" y="181051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8388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222992" y="2194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899648" y="2194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83880" y="2578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Market Stress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222992" y="25786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899648" y="25786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246120"/>
            <a:ext cx="113842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3364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TWFE REGRESSION RESULTS — KEY COEFFICIENTS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 Variable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3703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3703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Err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92640" y="3703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8992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4005072"/>
            <a:ext cx="11247120" cy="0"/>
          </a:xfrm>
          <a:prstGeom prst="line">
            <a:avLst/>
          </a:prstGeom>
          <a:noFill/>
          <a:ln w="12700">
            <a:solidFill>
              <a:srgbClr val="D0DD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050792"/>
            <a:ext cx="11247120" cy="310896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social_buffer_index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0" y="4069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Income Share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4069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+0.264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75120" y="4069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4069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692640" y="4069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789920" y="4069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4370832"/>
            <a:ext cx="11247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gdp_growth_pct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83280" y="4389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Income Share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20640" y="4389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−0.054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75120" y="4389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9600" y="4389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−2.86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692640" y="43891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789920" y="4389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2920" y="4690872"/>
            <a:ext cx="11247120" cy="310896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economic_resilience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383280" y="4709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Rate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20640" y="4709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−2.950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675120" y="4709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229600" y="4709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−3.76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692640" y="47091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789920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02920" y="5010912"/>
            <a:ext cx="11247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govt_expenditure_pct_gdp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383280" y="5029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Rate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120640" y="5029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+0.033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675120" y="5029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229600" y="5029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+4.25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692640" y="5029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0789920" y="5029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02920" y="5330952"/>
            <a:ext cx="11247120" cy="310896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436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ai_exposure_proxy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383280" y="5349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Mkt Stress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120640" y="53492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+0.143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675120" y="53492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0.083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229600" y="5349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+1.73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692640" y="53492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0.084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0789920" y="5349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02920" y="5650992"/>
            <a:ext cx="11247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436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tech_vulnerability_index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3383280" y="5669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Mkt Stress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120640" y="56692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−0.214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675120" y="56692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0.106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229600" y="5669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−2.02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9692640" y="56692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0.043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0789920" y="5669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02920" y="5971032"/>
            <a:ext cx="11247120" cy="310896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9436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economic_resilience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3383280" y="5989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Mkt Stress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5120640" y="5989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−6.448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675120" y="5989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1.266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9600" y="5989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−5.09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9692640" y="5989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789920" y="5989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502920" y="6291072"/>
            <a:ext cx="11247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94360" y="6309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gini_index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3383280" y="6309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Mkt Stress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5120640" y="6309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+0.100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6675120" y="6309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0.026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8229600" y="6309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+3.90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9692640" y="6309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1078992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HISI — HUMAN INCOME STABILITY INDEX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composite metric · PCA-derived weights · Normalized 0–100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1325880"/>
          </a:xfrm>
          <a:prstGeom prst="roundRect">
            <a:avLst>
              <a:gd name="adj" fmla="val 6897"/>
            </a:avLst>
          </a:prstGeom>
          <a:solidFill>
            <a:srgbClr val="132337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HISIᵢₜ = w₁ · (Labor_Share / Gini)ⁿᵒʳᵐ + w₂ · (Social_Protection)ⁿᵒʳᵐ − w₃ · (AI_Displacement_Risk)ⁿᵒʳᵐ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w₁, w₂, w₃ derived via Principal Component Analysis — mathematically unbiased, variance-maximizing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42032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132337"/>
          </a:solidFill>
          <a:ln w="12700">
            <a:solidFill>
              <a:srgbClr val="F4A261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633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Equity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labor_income_share / gini_index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2542032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132337"/>
          </a:solidFill>
          <a:ln w="12700">
            <a:solidFill>
              <a:srgbClr val="06D6A0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34840" y="2633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2926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Buffer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3200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social_protection + health + education spend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2542032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132337"/>
          </a:solidFill>
          <a:ln w="12700">
            <a:solidFill>
              <a:srgbClr val="E6394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2633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66760" y="2926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Displacement Risk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66760" y="3200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ai_exposure × (1 − tech_vulnerability/100)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33088"/>
            <a:ext cx="11430000" cy="640080"/>
          </a:xfrm>
          <a:prstGeom prst="roundRect">
            <a:avLst>
              <a:gd name="adj" fmla="val 11429"/>
            </a:avLst>
          </a:prstGeom>
          <a:solidFill>
            <a:srgbClr val="132337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336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HISI Range:  19.5 (Qatar, lowest)  ──────────────────────────────────────────  88.5 (Iceland, highest)  |  Global Mean: ~50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919472"/>
            <a:ext cx="5623560" cy="1600200"/>
          </a:xfrm>
          <a:prstGeom prst="roundRect">
            <a:avLst>
              <a:gd name="adj" fmla="val 5714"/>
            </a:avLst>
          </a:prstGeom>
          <a:solidFill>
            <a:srgbClr val="132337"/>
          </a:solidFill>
          <a:ln w="12700">
            <a:solidFill>
              <a:srgbClr val="06D6A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98348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41248" y="4983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HISI COUNTRIES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5376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 88.5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5650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SVN 88.1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925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 85.3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8640" y="6199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DNK 82.8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246120" y="5376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NLD 78.9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246120" y="5650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75.6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46120" y="5925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 75.4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246120" y="6199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 75.0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172200" y="4919472"/>
            <a:ext cx="5623560" cy="1600200"/>
          </a:xfrm>
          <a:prstGeom prst="roundRect">
            <a:avLst>
              <a:gd name="adj" fmla="val 5714"/>
            </a:avLst>
          </a:prstGeom>
          <a:solidFill>
            <a:srgbClr val="132337"/>
          </a:solidFill>
          <a:ln w="12700">
            <a:solidFill>
              <a:srgbClr val="E6394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983480"/>
            <a:ext cx="274320" cy="2743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647688" y="4983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HISI COUNTRIES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6355080" y="5376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 19.5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6355080" y="5650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 21.5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6355080" y="5925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 22.0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355080" y="6199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 23.2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9052560" y="5376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TJK 23.3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9052560" y="5650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24.9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9052560" y="5925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 25.0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9052560" y="6199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BRN 25.4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SEGMENTATION — THREE DESTINIES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 Model clustering · 264 countries · 6,774 country-year observations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3749040" cy="5440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3749040" cy="1051560"/>
          </a:xfrm>
          <a:prstGeom prst="roundRect">
            <a:avLst>
              <a:gd name="adj" fmla="val 10435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37360"/>
            <a:ext cx="3749040" cy="4297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887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18872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0292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Countries · 34% of panel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2286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Digital Capital · Stable HISI trajectory · Strong institutional buffers · Advanced R&amp;D ecosystems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310128"/>
            <a:ext cx="3566160" cy="804672"/>
          </a:xfrm>
          <a:prstGeom prst="roundRect">
            <a:avLst>
              <a:gd name="adj" fmla="val 7955"/>
            </a:avLst>
          </a:prstGeom>
          <a:solidFill>
            <a:srgbClr val="F0F6FA"/>
          </a:solidFill>
          <a:ln w="12700">
            <a:solidFill>
              <a:srgbClr val="D8E6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3832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363016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Iceland · Slovenia · Belgium · Denmark · Netherlands · Finland · Sweden · Austria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425196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8640" y="4288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75–88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45720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HISI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286000" y="425196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331720" y="4288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331720" y="45720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" y="4910328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48640" y="49469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Very High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52303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Buffer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286000" y="4910328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2331720" y="49469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0.421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331720" y="52303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297680" y="1115568"/>
            <a:ext cx="3749040" cy="5440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97680" y="1115568"/>
            <a:ext cx="3749040" cy="1051560"/>
          </a:xfrm>
          <a:prstGeom prst="roundRect">
            <a:avLst>
              <a:gd name="adj" fmla="val 1043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97680" y="1737360"/>
            <a:ext cx="3749040" cy="4297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188720"/>
            <a:ext cx="411480" cy="4114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937760" y="118872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FALLS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443484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 Countries · 74% of panel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4434840" y="2286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Task Displacement · Low institutional buffers · Inadequate social protection · Structural vulnerability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389120" y="3310128"/>
            <a:ext cx="3566160" cy="804672"/>
          </a:xfrm>
          <a:prstGeom prst="roundRect">
            <a:avLst>
              <a:gd name="adj" fmla="val 7955"/>
            </a:avLst>
          </a:prstGeom>
          <a:solidFill>
            <a:srgbClr val="F0F6FA"/>
          </a:solidFill>
          <a:ln w="12700">
            <a:solidFill>
              <a:srgbClr val="D8E6F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480560" y="33832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4480560" y="363016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Tajikistan · Côte d'Ivoire · Belarus · Sub-Saharan cluster · Low-income economies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434840" y="425196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Text 34"/>
          <p:cNvSpPr/>
          <p:nvPr/>
        </p:nvSpPr>
        <p:spPr>
          <a:xfrm>
            <a:off x="4480560" y="4288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20–45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4480560" y="45720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HISI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6217920" y="425196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Text 37"/>
          <p:cNvSpPr/>
          <p:nvPr/>
        </p:nvSpPr>
        <p:spPr>
          <a:xfrm>
            <a:off x="6263640" y="4288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Low–Med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6263640" y="45720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434840" y="4910328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4" name="Text 40"/>
          <p:cNvSpPr/>
          <p:nvPr/>
        </p:nvSpPr>
        <p:spPr>
          <a:xfrm>
            <a:off x="4480560" y="49469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4480560" y="52303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Buffer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6217920" y="4910328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7" name="Text 43"/>
          <p:cNvSpPr/>
          <p:nvPr/>
        </p:nvSpPr>
        <p:spPr>
          <a:xfrm>
            <a:off x="6263640" y="49469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+0.100***</a:t>
            </a:r>
            <a:endParaRPr lang="en-US" sz="1300" dirty="0"/>
          </a:p>
        </p:txBody>
      </p:sp>
      <p:sp>
        <p:nvSpPr>
          <p:cNvPr id="48" name="Text 44"/>
          <p:cNvSpPr/>
          <p:nvPr/>
        </p:nvSpPr>
        <p:spPr>
          <a:xfrm>
            <a:off x="6263640" y="52303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Effect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8229600" y="1115568"/>
            <a:ext cx="3749040" cy="5440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6"/>
          <p:cNvSpPr/>
          <p:nvPr/>
        </p:nvSpPr>
        <p:spPr>
          <a:xfrm>
            <a:off x="8229600" y="1115568"/>
            <a:ext cx="3749040" cy="1051560"/>
          </a:xfrm>
          <a:prstGeom prst="roundRect">
            <a:avLst>
              <a:gd name="adj" fmla="val 10435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8229600" y="1737360"/>
            <a:ext cx="3749040" cy="4297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188720"/>
            <a:ext cx="411480" cy="411480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8869680" y="118872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ADAPTERS</a:t>
            </a:r>
            <a:endParaRPr lang="en-US" sz="2000" dirty="0"/>
          </a:p>
        </p:txBody>
      </p:sp>
      <p:sp>
        <p:nvSpPr>
          <p:cNvPr id="54" name="Text 49"/>
          <p:cNvSpPr/>
          <p:nvPr/>
        </p:nvSpPr>
        <p:spPr>
          <a:xfrm>
            <a:off x="836676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 Countries · 64% of panel</a:t>
            </a:r>
            <a:endParaRPr lang="en-US" sz="1100" dirty="0"/>
          </a:p>
        </p:txBody>
      </p:sp>
      <p:sp>
        <p:nvSpPr>
          <p:cNvPr id="55" name="Text 50"/>
          <p:cNvSpPr/>
          <p:nvPr/>
        </p:nvSpPr>
        <p:spPr>
          <a:xfrm>
            <a:off x="8366760" y="2286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AI Exposure + High Institutional Lifelines · Medium HISI · Transition economies with reform capacity</a:t>
            </a:r>
            <a:endParaRPr lang="en-US" sz="1100" dirty="0"/>
          </a:p>
        </p:txBody>
      </p:sp>
      <p:sp>
        <p:nvSpPr>
          <p:cNvPr id="56" name="Shape 51"/>
          <p:cNvSpPr/>
          <p:nvPr/>
        </p:nvSpPr>
        <p:spPr>
          <a:xfrm>
            <a:off x="8321040" y="3310128"/>
            <a:ext cx="3566160" cy="804672"/>
          </a:xfrm>
          <a:prstGeom prst="roundRect">
            <a:avLst>
              <a:gd name="adj" fmla="val 7955"/>
            </a:avLst>
          </a:prstGeom>
          <a:solidFill>
            <a:srgbClr val="F0F6FA"/>
          </a:solidFill>
          <a:ln w="12700">
            <a:solidFill>
              <a:srgbClr val="D8E6F0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8412480" y="33832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8412480" y="363016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Moldova · Czech Republic · India · Puerto Rico · Latin America · Eastern Europe</a:t>
            </a:r>
            <a:endParaRPr lang="en-US" sz="1000" dirty="0"/>
          </a:p>
        </p:txBody>
      </p:sp>
      <p:sp>
        <p:nvSpPr>
          <p:cNvPr id="59" name="Shape 54"/>
          <p:cNvSpPr/>
          <p:nvPr/>
        </p:nvSpPr>
        <p:spPr>
          <a:xfrm>
            <a:off x="8366760" y="425196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0" name="Text 55"/>
          <p:cNvSpPr/>
          <p:nvPr/>
        </p:nvSpPr>
        <p:spPr>
          <a:xfrm>
            <a:off x="8412480" y="4288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45–75</a:t>
            </a:r>
            <a:endParaRPr lang="en-US" sz="1300" dirty="0"/>
          </a:p>
        </p:txBody>
      </p:sp>
      <p:sp>
        <p:nvSpPr>
          <p:cNvPr id="61" name="Text 56"/>
          <p:cNvSpPr/>
          <p:nvPr/>
        </p:nvSpPr>
        <p:spPr>
          <a:xfrm>
            <a:off x="8412480" y="45720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HISI</a:t>
            </a:r>
            <a:endParaRPr lang="en-US" sz="900" dirty="0"/>
          </a:p>
        </p:txBody>
      </p:sp>
      <p:sp>
        <p:nvSpPr>
          <p:cNvPr id="62" name="Shape 57"/>
          <p:cNvSpPr/>
          <p:nvPr/>
        </p:nvSpPr>
        <p:spPr>
          <a:xfrm>
            <a:off x="10149840" y="425196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3" name="Text 58"/>
          <p:cNvSpPr/>
          <p:nvPr/>
        </p:nvSpPr>
        <p:spPr>
          <a:xfrm>
            <a:off x="10195560" y="42885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Med–High</a:t>
            </a:r>
            <a:endParaRPr lang="en-US" sz="1300" dirty="0"/>
          </a:p>
        </p:txBody>
      </p:sp>
      <p:sp>
        <p:nvSpPr>
          <p:cNvPr id="64" name="Text 59"/>
          <p:cNvSpPr/>
          <p:nvPr/>
        </p:nvSpPr>
        <p:spPr>
          <a:xfrm>
            <a:off x="10195560" y="45720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</a:t>
            </a:r>
            <a:endParaRPr lang="en-US" sz="900" dirty="0"/>
          </a:p>
        </p:txBody>
      </p:sp>
      <p:sp>
        <p:nvSpPr>
          <p:cNvPr id="65" name="Shape 60"/>
          <p:cNvSpPr/>
          <p:nvPr/>
        </p:nvSpPr>
        <p:spPr>
          <a:xfrm>
            <a:off x="8366760" y="4910328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6" name="Text 61"/>
          <p:cNvSpPr/>
          <p:nvPr/>
        </p:nvSpPr>
        <p:spPr>
          <a:xfrm>
            <a:off x="8412480" y="49469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300" dirty="0"/>
          </a:p>
        </p:txBody>
      </p:sp>
      <p:sp>
        <p:nvSpPr>
          <p:cNvPr id="67" name="Text 62"/>
          <p:cNvSpPr/>
          <p:nvPr/>
        </p:nvSpPr>
        <p:spPr>
          <a:xfrm>
            <a:off x="8412480" y="52303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Buffer</a:t>
            </a:r>
            <a:endParaRPr lang="en-US" sz="900" dirty="0"/>
          </a:p>
        </p:txBody>
      </p:sp>
      <p:sp>
        <p:nvSpPr>
          <p:cNvPr id="68" name="Shape 63"/>
          <p:cNvSpPr/>
          <p:nvPr/>
        </p:nvSpPr>
        <p:spPr>
          <a:xfrm>
            <a:off x="10149840" y="4910328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9" name="Text 64"/>
          <p:cNvSpPr/>
          <p:nvPr/>
        </p:nvSpPr>
        <p:spPr>
          <a:xfrm>
            <a:off x="10195560" y="49469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−0.214**</a:t>
            </a:r>
            <a:endParaRPr lang="en-US" sz="1300" dirty="0"/>
          </a:p>
        </p:txBody>
      </p:sp>
      <p:sp>
        <p:nvSpPr>
          <p:cNvPr id="70" name="Text 65"/>
          <p:cNvSpPr/>
          <p:nvPr/>
        </p:nvSpPr>
        <p:spPr>
          <a:xfrm>
            <a:off x="10195560" y="52303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Vuln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2026–2050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Panel Forecaster · Rolling Expanding-Window CV · Two Divergent Scenarios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78992"/>
          <a:ext cx="71323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078992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132337"/>
          </a:solidFill>
          <a:ln w="12700">
            <a:solidFill>
              <a:srgbClr val="E6394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170432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18120" y="1645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818120" y="19385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Automation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86384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 +5%/yr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86384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buffer −2%/yr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86384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investment flat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86384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HISI 2050: 42.6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86384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HISI decline: −5.9pts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9875520" y="1078992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132337"/>
          </a:solidFill>
          <a:ln w="12700">
            <a:solidFill>
              <a:srgbClr val="06D6A0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117043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66960" y="1645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966960" y="19385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Equitable Adaptation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001268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 +3%/yr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001268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buffer +3%/yr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001268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investment +1%/yr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001268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HISI 2050: 48.5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001268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HISI gain: +2.0pts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65760" y="5138928"/>
            <a:ext cx="11430000" cy="1508760"/>
          </a:xfrm>
          <a:prstGeom prst="roundRect">
            <a:avLst>
              <a:gd name="adj" fmla="val 6061"/>
            </a:avLst>
          </a:prstGeom>
          <a:solidFill>
            <a:srgbClr val="132337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48640" y="52303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XGBOOST FEATURES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22960" y="5760720"/>
            <a:ext cx="9144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48640" y="63367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income share pct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2450592" y="5966161"/>
            <a:ext cx="914400" cy="297479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176272" y="63367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income share pct ma3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4078224" y="6068060"/>
            <a:ext cx="914400" cy="1955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803904" y="63367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index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5705856" y="6143662"/>
            <a:ext cx="914400" cy="11997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431536" y="63367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index lag1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7333488" y="6168315"/>
            <a:ext cx="914400" cy="95325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059168" y="63367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 region ECS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8961120" y="6217621"/>
            <a:ext cx="914400" cy="46019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686800" y="63367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buffer index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10588752" y="6252135"/>
            <a:ext cx="914400" cy="11505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10314432" y="63367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 proxy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POLICY IMPLICATIONS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conclusions from 6,774 country-year observations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571500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29844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Raises Labor Market Stress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682496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ai_exposure_proxy coefficient: +0.143* (p=0.084) on labor market stress. Effect is heterogeneous — displacement in North America (+0.432*) vs. skill-upgrading in South Asia (−0.452**).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115568"/>
            <a:ext cx="571500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280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76872" y="129844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Buffers the AI Shock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76872" y="1682496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tech_vulnerability_index: −0.214** (p=0.043). Countries with higher R&amp;D investment systematically absorb AI disruption. Policy lever: invest in technological adaptation capacity.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44368"/>
            <a:ext cx="571500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312724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Protection Stabilizes Income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511296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social_buffer_index: +0.264*** (p=0.001) on labor income share. Institutional safety nets are the strongest modifiable determinant of income stability in the AI transition.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944368"/>
            <a:ext cx="571500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76872" y="312724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Resilience Dominates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76872" y="3511296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economic_resilience: −6.448*** (p&lt;0.001) on labor market stress. Wealthier, more trade-open economies with productive labor forces absorb AI shocks with far lower stress outcomes.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773168"/>
            <a:ext cx="571500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4937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78992" y="495604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Inequality Amplifies Vulnerability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78992" y="5340096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gini_index: +0.100*** (p&lt;0.001). High inequality countries face compounding stress — unequal distribution of AI gains creates feedback loops that worsen labor market outcomes.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4773168"/>
            <a:ext cx="571500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4937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76872" y="495604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Gap Widens to 2050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76872" y="5340096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Equitable Adaptation vs. Aggressive Automation: global HISI diverges by 5.9 points by 2050. Policy choice today determines whether the world converges or diverges on income stability.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HETEROGENEITY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 effects differ sharply by region — one-size-fits-all policy is insufficient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78992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115568"/>
            <a:ext cx="4407408" cy="1298448"/>
          </a:xfrm>
          <a:prstGeom prst="roundRect">
            <a:avLst>
              <a:gd name="adj" fmla="val 5634"/>
            </a:avLst>
          </a:prstGeom>
          <a:solidFill>
            <a:srgbClr val="132337"/>
          </a:solidFill>
          <a:ln w="12700">
            <a:solidFill>
              <a:srgbClr val="E6394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225296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45552" y="1225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 — North America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516368" y="15727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Coef: +0.432* — AI exposure increases labor market stress. High-wage service displacement effect dominates.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516368" y="218541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USA, CAN (3 countries, R²=0.37)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406640" y="2532888"/>
            <a:ext cx="4407408" cy="1298448"/>
          </a:xfrm>
          <a:prstGeom prst="roundRect">
            <a:avLst>
              <a:gd name="adj" fmla="val 5634"/>
            </a:avLst>
          </a:prstGeom>
          <a:solidFill>
            <a:srgbClr val="132337"/>
          </a:solidFill>
          <a:ln w="12700">
            <a:solidFill>
              <a:srgbClr val="06D6A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26426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45552" y="2642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— South Asia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7516368" y="29900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Coef: −0.452** — AI exposure reduces stress. Skill-upgrading in tech services outpaces displacement.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7516368" y="36027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IND, BGD, PAK + 3 (R²=0.18)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7406640" y="3950208"/>
            <a:ext cx="4407408" cy="1298448"/>
          </a:xfrm>
          <a:prstGeom prst="roundRect">
            <a:avLst>
              <a:gd name="adj" fmla="val 5634"/>
            </a:avLst>
          </a:prstGeom>
          <a:solidFill>
            <a:srgbClr val="132337"/>
          </a:solidFill>
          <a:ln w="12700">
            <a:solidFill>
              <a:srgbClr val="A0AEC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405993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45552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— Europe &amp; C. Asia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7516368" y="44074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Coef: −0.031 (ns) — Neutral effect. Strong institutional buffers absorb AI impact across 57 countries.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7516368" y="50200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countries, R²=0.12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7406640" y="5367528"/>
            <a:ext cx="4407408" cy="1298448"/>
          </a:xfrm>
          <a:prstGeom prst="roundRect">
            <a:avLst>
              <a:gd name="adj" fmla="val 5634"/>
            </a:avLst>
          </a:prstGeom>
          <a:solidFill>
            <a:srgbClr val="132337"/>
          </a:solidFill>
          <a:ln w="12700">
            <a:solidFill>
              <a:srgbClr val="F4A26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368" y="5477256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845552" y="5477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LCN — Latin America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516368" y="582472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Coef: +0.279 (ns) — Positive but noisy. Informal labor markets amplify exposure risk.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7516368" y="643737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countries, R²=0.18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PIPELINE &amp; 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reproducible research infrastructure · Python 3.10 · SQLite · Streamlit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755648" cy="23317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1755648" cy="438912"/>
          </a:xfrm>
          <a:prstGeom prst="roundRect">
            <a:avLst>
              <a:gd name="adj" fmla="val 208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89888"/>
            <a:ext cx="1755648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6128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64592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30428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wbgapi · ILOSTAT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KNNImputer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21408" y="2286000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7712" y="1115568"/>
            <a:ext cx="1755648" cy="23317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67712" y="1115568"/>
            <a:ext cx="1755648" cy="438912"/>
          </a:xfrm>
          <a:prstGeom prst="roundRect">
            <a:avLst>
              <a:gd name="adj" fmla="val 2083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67712" y="1389888"/>
            <a:ext cx="1755648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13432" y="116128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40864" y="164592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40864" y="230428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features built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23360" y="2286000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9664" y="1115568"/>
            <a:ext cx="1755648" cy="23317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69664" y="1115568"/>
            <a:ext cx="1755648" cy="438912"/>
          </a:xfrm>
          <a:prstGeom prst="roundRect">
            <a:avLst>
              <a:gd name="adj" fmla="val 20833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69664" y="1389888"/>
            <a:ext cx="1755648" cy="1645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15384" y="116128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42816" y="164592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Econometric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42816" y="230428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linearmodels · scipy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TWFE · Hausman · IV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25312" y="2286000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71616" y="1115568"/>
            <a:ext cx="1755648" cy="23317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71616" y="1115568"/>
            <a:ext cx="1755648" cy="438912"/>
          </a:xfrm>
          <a:prstGeom prst="roundRect">
            <a:avLst>
              <a:gd name="adj" fmla="val 20833"/>
            </a:avLst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71616" y="1389888"/>
            <a:ext cx="1755648" cy="16459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17336" y="116128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44768" y="164592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HISI Index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44768" y="230428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Clustering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27264" y="2286000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73568" y="1115568"/>
            <a:ext cx="1755648" cy="23317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973568" y="1115568"/>
            <a:ext cx="1755648" cy="438912"/>
          </a:xfrm>
          <a:prstGeom prst="roundRect">
            <a:avLst>
              <a:gd name="adj" fmla="val 2083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73568" y="1389888"/>
            <a:ext cx="1755648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19288" y="116128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0" y="164592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46720" y="230428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rolling CV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simulation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729216" y="2286000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75520" y="1115568"/>
            <a:ext cx="1755648" cy="233172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875520" y="1115568"/>
            <a:ext cx="1755648" cy="438912"/>
          </a:xfrm>
          <a:prstGeom prst="roundRect">
            <a:avLst>
              <a:gd name="adj" fmla="val 2083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75520" y="1389888"/>
            <a:ext cx="1755648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21240" y="116128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948672" y="164592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Portfolio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948672" y="2304288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Plotly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· LinkedIn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639312"/>
            <a:ext cx="11430000" cy="2944368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94360" y="3749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STACK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" y="4114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wbgapi (World Bank)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49103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ILOSTAT REST API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538581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8640" y="58613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relational DB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761488" y="4114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761488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761488" y="49103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KNN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761488" y="538581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imputation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761488" y="58613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974336" y="4114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Econometrics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974336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linearmodels TWFE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974336" y="49103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 IV/2SLS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974336" y="538581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Hausman test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974336" y="58613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SE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187184" y="4114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Forecast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187184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187184" y="49103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Expanding-window CV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187184" y="538581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clustering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187184" y="58613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weights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9400032" y="4114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9400032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400032" y="49103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choropleth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400032" y="538581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9400032" y="58613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ENGINEERING — PRODUCTION QUERIES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· Window Functions · 5-table relational schema · Real query results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66344" y="111556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CTE: AI Exposure vs HISI by Income Group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" y="1463040"/>
            <a:ext cx="5193792" cy="1874520"/>
          </a:xfrm>
          <a:prstGeom prst="roundRect">
            <a:avLst>
              <a:gd name="adj" fmla="val 3415"/>
            </a:avLst>
          </a:prstGeom>
          <a:solidFill>
            <a:srgbClr val="0D1B2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54480"/>
            <a:ext cx="49377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exposure_summary AS 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cm.income_group,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AVG(pf.ai_exposure_proxy) AS avg_ai,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AVG(hp.hisi_score)        AS avg_hisi,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AVG(mc.gini_index)        AS avg_gini,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COUNT(DISTINCT pf.iso_alpha3) AS n_countries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panel_features pf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hisi_panel hp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pf.iso_alpha3 = hp.iso_alpha3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pf.year = hp.year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pf.year BETWEEN 2015 AND 2022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cm.income_group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exposure_summary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avg_hisi DESC;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466344" y="3429000"/>
            <a:ext cx="5193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" y="3657600"/>
            <a:ext cx="5193792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69417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Group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0" y="36941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36941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369417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" y="3895344"/>
            <a:ext cx="519379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319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 (High Inc.)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77440" y="39319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47.74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39319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54.15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393192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" y="4133088"/>
            <a:ext cx="5193792" cy="237744"/>
          </a:xfrm>
          <a:prstGeom prst="rect">
            <a:avLst/>
          </a:prstGeom>
          <a:solidFill>
            <a:srgbClr val="F0F6FA"/>
          </a:solidFill>
          <a:ln w="12700">
            <a:solidFill>
              <a:srgbClr val="F0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6966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UMC (Upper Mid.)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77440" y="41696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30.36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0" y="41696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45.95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416966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" y="4370832"/>
            <a:ext cx="519379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40740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LMC (Lower Mid.)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77440" y="4407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0" y="4407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440740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37.8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" y="4608576"/>
            <a:ext cx="5193792" cy="237744"/>
          </a:xfrm>
          <a:prstGeom prst="rect">
            <a:avLst/>
          </a:prstGeom>
          <a:solidFill>
            <a:srgbClr val="F0F6FA"/>
          </a:solidFill>
          <a:ln w="12700">
            <a:solidFill>
              <a:srgbClr val="F0F6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4515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 (Low Inc.)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377440" y="46451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74720" y="46451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37.49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0" y="464515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80760" y="1024128"/>
            <a:ext cx="57607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27064" y="1115568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Function: Rolling HISI + YoY Change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27064" y="1463040"/>
            <a:ext cx="5468112" cy="1874520"/>
          </a:xfrm>
          <a:prstGeom prst="roundRect">
            <a:avLst>
              <a:gd name="adj" fmla="val 3415"/>
            </a:avLst>
          </a:prstGeom>
          <a:solidFill>
            <a:srgbClr val="0D1B2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1554480"/>
            <a:ext cx="52120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iso_alpha3, year,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hisi_score,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AVG(hisi_score) OVER 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iso_alpha3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year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 BETWEEN 2 PRECEDING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AND CURRENT ROW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hisi_rolling_3yr,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hisi_score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LAG(hisi_score, 1) OVER 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PARTITION BY iso_alpha3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 BY year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 AS hisi_yoy_change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hisi_panel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iso_alpha3 IN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('USA','IND','DEU','NGA','BRA');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6227064" y="342900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2022 Selected Countries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27064" y="3657600"/>
            <a:ext cx="5468112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36941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183880" y="36941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HISI 2022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372600" y="36941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Avg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652760" y="369417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27064" y="3895344"/>
            <a:ext cx="546811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3931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(IND)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183880" y="3931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87.19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372600" y="39319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87.80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652760" y="393192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-0.86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27064" y="4133088"/>
            <a:ext cx="5468112" cy="237744"/>
          </a:xfrm>
          <a:prstGeom prst="rect">
            <a:avLst/>
          </a:prstGeom>
          <a:solidFill>
            <a:srgbClr val="F0F6FA"/>
          </a:solidFill>
          <a:ln w="12700">
            <a:solidFill>
              <a:srgbClr val="F0F6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4169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Germany(DEU)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183880" y="4169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69.86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372600" y="41696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72.57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652760" y="416966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-2.12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27064" y="4370832"/>
            <a:ext cx="546811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63640" y="4407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183880" y="44074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54.64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372600" y="44074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59.03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652760" y="440740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-5.38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27064" y="4608576"/>
            <a:ext cx="5468112" cy="237744"/>
          </a:xfrm>
          <a:prstGeom prst="rect">
            <a:avLst/>
          </a:prstGeom>
          <a:solidFill>
            <a:srgbClr val="F0F6FA"/>
          </a:solidFill>
          <a:ln w="12700">
            <a:solidFill>
              <a:srgbClr val="F0F6F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63640" y="46451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Nigeria(NGA)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183880" y="46451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74.35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372600" y="46451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72.94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652760" y="464515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+1.52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227064" y="4846320"/>
            <a:ext cx="546811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63640" y="48828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(BRA)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183880" y="48828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42.32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372600" y="48828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42.51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0652760" y="488289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+1.60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0040" y="5340096"/>
            <a:ext cx="11521440" cy="1426464"/>
          </a:xfrm>
          <a:prstGeom prst="roundRect">
            <a:avLst>
              <a:gd name="adj" fmla="val 6410"/>
            </a:avLst>
          </a:prstGeom>
          <a:solidFill>
            <a:srgbClr val="0D1B2A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8640" y="543153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INSIGHTS FROM REAL QUERY RESULTS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57200" y="5724144"/>
            <a:ext cx="3657600" cy="923544"/>
          </a:xfrm>
          <a:prstGeom prst="roundRect">
            <a:avLst>
              <a:gd name="adj" fmla="val 7921"/>
            </a:avLst>
          </a:prstGeom>
          <a:solidFill>
            <a:srgbClr val="132337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8640" y="57972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960120" y="5769864"/>
            <a:ext cx="3063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countries have 4.4x the AI exposure of low-income economies yet score 44% higher on HISI. Institutional buffers, not AI speed, determine the outcome.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279392" y="5724144"/>
            <a:ext cx="3657600" cy="923544"/>
          </a:xfrm>
          <a:prstGeom prst="roundRect">
            <a:avLst>
              <a:gd name="adj" fmla="val 7921"/>
            </a:avLst>
          </a:prstGeom>
          <a:solidFill>
            <a:srgbClr val="132337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70832" y="57972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77" name="Text 75"/>
          <p:cNvSpPr/>
          <p:nvPr/>
        </p:nvSpPr>
        <p:spPr>
          <a:xfrm>
            <a:off x="4782312" y="5769864"/>
            <a:ext cx="3063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recorded the sharpest single-year HISI decline in 2022: −5.38 pts. Moldova topped all European countries at 93.43 in the same year per regional window query.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8101584" y="5724144"/>
            <a:ext cx="3657600" cy="923544"/>
          </a:xfrm>
          <a:prstGeom prst="roundRect">
            <a:avLst>
              <a:gd name="adj" fmla="val 7921"/>
            </a:avLst>
          </a:prstGeom>
          <a:solidFill>
            <a:srgbClr val="132337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193024" y="57972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8604504" y="5769864"/>
            <a:ext cx="3063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reveal India surged +22.5 pts from 2018–2022 while Germany fell −4.3 pts — opposite trajectories exposed within the same Adapters cluster.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— IV2SLS &amp; XGBOOST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Endogeneity addressed via Instrumental Variables · ML confirms econometric findings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577840" cy="54864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IV2SLS vs TWFE — Endogeneity Test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5303520" cy="731520"/>
          </a:xfrm>
          <a:prstGeom prst="roundRect">
            <a:avLst>
              <a:gd name="adj" fmla="val 8750"/>
            </a:avLst>
          </a:prstGeom>
          <a:solidFill>
            <a:srgbClr val="FFF3F3"/>
          </a:solidFill>
          <a:ln w="12700">
            <a:solidFill>
              <a:srgbClr val="E63946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ENDOGENEITY RISK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Wealthy countries adopt AI faster → OLS estimates of AI impact biased upward. Solution: IV2SLS using lagged regressors as instruments.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53949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68880" y="2468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TWFE β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IV2SLS β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5394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34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Buffer Index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68880" y="2834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+0.264***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20440" y="2834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+0.288**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0" y="2834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&gt; TWFE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5394960" cy="347472"/>
          </a:xfrm>
          <a:prstGeom prst="rect">
            <a:avLst/>
          </a:prstGeom>
          <a:solidFill>
            <a:srgbClr val="F0F6FA"/>
          </a:solidFill>
          <a:ln w="12700">
            <a:solidFill>
              <a:srgbClr val="F0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00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Openness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68880" y="3200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+0.020*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20440" y="3200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+0.020*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3200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5394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66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Econ. Resilience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68880" y="3566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−4.145***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20440" y="3566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−4.145***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3566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5394960" cy="347472"/>
          </a:xfrm>
          <a:prstGeom prst="rect">
            <a:avLst/>
          </a:prstGeom>
          <a:solidFill>
            <a:srgbClr val="F0F6FA"/>
          </a:solidFill>
          <a:ln w="12700">
            <a:solidFill>
              <a:srgbClr val="F0F6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931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 Proxy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68880" y="3931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+0.143*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520440" y="3931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+0.373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0" y="3931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✓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251960"/>
            <a:ext cx="5394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297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468880" y="4297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+0.106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520440" y="4297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+0.102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0" y="4297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617720"/>
            <a:ext cx="5394960" cy="347472"/>
          </a:xfrm>
          <a:prstGeom prst="rect">
            <a:avLst/>
          </a:prstGeom>
          <a:solidFill>
            <a:srgbClr val="F0F6FA"/>
          </a:solidFill>
          <a:ln w="12700">
            <a:solidFill>
              <a:srgbClr val="F0F6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663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Expenditure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468880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+0.303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520440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+0.303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0" y="4663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4773168"/>
            <a:ext cx="5303520" cy="1572768"/>
          </a:xfrm>
          <a:prstGeom prst="roundRect">
            <a:avLst>
              <a:gd name="adj" fmla="val 4651"/>
            </a:avLst>
          </a:prstGeom>
          <a:solidFill>
            <a:srgbClr val="0D1B2A"/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48646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ROBUSTNESS FINDING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5800" y="5138928"/>
            <a:ext cx="4937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IV2SLS estimate for Social Buffer (β = +0.288) is LARGER than TWFE (β = +0.264). This confirms TWFE is a conservative lower bound. The causal effect of social protection on labor income stability is at least as large — and likely larger — than panel estimates suggest.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72200" y="1078992"/>
            <a:ext cx="5623560" cy="54864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355080" y="11887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Feature Importance — Top 10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55080" y="148132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independently confirms econometric variable rankings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9360" y="1901952"/>
            <a:ext cx="4114800" cy="237744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1901952"/>
            <a:ext cx="4114800" cy="237744"/>
          </a:xfrm>
          <a:prstGeom prst="roundRect">
            <a:avLst>
              <a:gd name="adj" fmla="val 15385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17922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Income Share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469880" y="19019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30.6%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309360" y="2331720"/>
            <a:ext cx="4114800" cy="237744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9360" y="2331720"/>
            <a:ext cx="2433918" cy="237744"/>
          </a:xfrm>
          <a:prstGeom prst="roundRect">
            <a:avLst>
              <a:gd name="adj" fmla="val 15385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9360" y="22219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Inc. Share (MA3)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469880" y="23317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18.1%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309360" y="2761488"/>
            <a:ext cx="4114800" cy="237744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09360" y="2761488"/>
            <a:ext cx="1600200" cy="237744"/>
          </a:xfrm>
          <a:prstGeom prst="roundRect">
            <a:avLst>
              <a:gd name="adj" fmla="val 15385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2651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Index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469880" y="27614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11.9%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309360" y="3191256"/>
            <a:ext cx="4114800" cy="237744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9360" y="3191256"/>
            <a:ext cx="981635" cy="237744"/>
          </a:xfrm>
          <a:prstGeom prst="roundRect">
            <a:avLst>
              <a:gd name="adj" fmla="val 15385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9360" y="30815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Index (Lag 1yr)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469880" y="31912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7.3%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309360" y="3621024"/>
            <a:ext cx="4114800" cy="237744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09360" y="3621024"/>
            <a:ext cx="779929" cy="237744"/>
          </a:xfrm>
          <a:prstGeom prst="roundRect">
            <a:avLst>
              <a:gd name="adj" fmla="val 15385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09360" y="35112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Exposure × ECS Region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469880" y="36210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5.8%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309360" y="4050792"/>
            <a:ext cx="4114800" cy="237744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09360" y="4050792"/>
            <a:ext cx="578224" cy="237744"/>
          </a:xfrm>
          <a:prstGeom prst="roundRect">
            <a:avLst>
              <a:gd name="adj" fmla="val 15385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9360" y="39410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ECS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0469880" y="40507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309360" y="4480560"/>
            <a:ext cx="4114800" cy="237744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09360" y="4480560"/>
            <a:ext cx="376518" cy="237744"/>
          </a:xfrm>
          <a:prstGeom prst="roundRect">
            <a:avLst>
              <a:gd name="adj" fmla="val 15385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09360" y="43708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Buffer Index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0469880" y="44805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2.8%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309360" y="4910328"/>
            <a:ext cx="4114800" cy="237744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309360" y="4910328"/>
            <a:ext cx="228600" cy="237744"/>
          </a:xfrm>
          <a:prstGeom prst="roundRect">
            <a:avLst>
              <a:gd name="adj" fmla="val 16000"/>
            </a:avLst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09360" y="48006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Group: INX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0469880" y="49103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AE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1.7%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309360" y="5340096"/>
            <a:ext cx="4114800" cy="237744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09360" y="5340096"/>
            <a:ext cx="201706" cy="237744"/>
          </a:xfrm>
          <a:prstGeom prst="roundRect">
            <a:avLst>
              <a:gd name="adj" fmla="val 1813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09360" y="52303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Index (Lag 3yr)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0469880" y="53400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309360" y="5769864"/>
            <a:ext cx="4114800" cy="237744"/>
          </a:xfrm>
          <a:prstGeom prst="roundRect">
            <a:avLst>
              <a:gd name="adj" fmla="val 1538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309360" y="5769864"/>
            <a:ext cx="174812" cy="237744"/>
          </a:xfrm>
          <a:prstGeom prst="roundRect">
            <a:avLst>
              <a:gd name="adj" fmla="val 20923"/>
            </a:avLst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309360" y="56601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Exp % GDP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10469880" y="57698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AE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1.3%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366760" y="1810512"/>
            <a:ext cx="0" cy="4297680"/>
          </a:xfrm>
          <a:prstGeom prst="line">
            <a:avLst/>
          </a:prstGeom>
          <a:noFill/>
          <a:ln w="12700">
            <a:solidFill>
              <a:srgbClr val="E63946"/>
            </a:solidFill>
            <a:prstDash val="dash"/>
          </a:ln>
        </p:spPr>
      </p:sp>
      <p:sp>
        <p:nvSpPr>
          <p:cNvPr id="92" name="Text 90"/>
          <p:cNvSpPr/>
          <p:nvPr/>
        </p:nvSpPr>
        <p:spPr>
          <a:xfrm>
            <a:off x="841248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Share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Gini = 50.5%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6263640" y="51663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0D1B2A"/>
          </a:solidFill>
          <a:ln w="12700">
            <a:solidFill>
              <a:srgbClr val="F4A261">
                <a:alpha val="50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446520" y="52578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ML-ECONOMETRICS CONVERGENCE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6446520" y="551383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independently assigns 50.5% of predictive power to labor income share and Gini — the exact same variables that TWFE identifies as primary drivers. Machine learning and econometric theory converge on the same answer.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5303520" cy="68580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 of work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policy choice.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research demonstrates that AI's labor market impact is neither uniform nor inevitable. The 5.9-point HISI gap between our 2050 scenarios is determined entirely by institutional choices made today: social protection investment, R&amp;D commitment, and equitable distribution of AI-era productivity gains.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005072"/>
            <a:ext cx="6217920" cy="713232"/>
          </a:xfrm>
          <a:prstGeom prst="roundRect">
            <a:avLst>
              <a:gd name="adj" fmla="val 10256"/>
            </a:avLst>
          </a:prstGeom>
          <a:solidFill>
            <a:srgbClr val="132337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07822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407822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social buffers now — every 1pt increase in social_buffer_index yields +0.264pts on labor income share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828032"/>
            <a:ext cx="6217920" cy="713232"/>
          </a:xfrm>
          <a:prstGeom prst="roundRect">
            <a:avLst>
              <a:gd name="adj" fmla="val 10256"/>
            </a:avLst>
          </a:prstGeom>
          <a:solidFill>
            <a:srgbClr val="132337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90118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490118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is the shock absorber — tech_vulnerability_index coefficient: −0.214** confirms this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650992"/>
            <a:ext cx="6217920" cy="713232"/>
          </a:xfrm>
          <a:prstGeom prst="roundRect">
            <a:avLst>
              <a:gd name="adj" fmla="val 10256"/>
            </a:avLst>
          </a:prstGeom>
          <a:solidFill>
            <a:srgbClr val="132337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72414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57241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HISI provides a unified, reproducible metric to track AI-era income stability across 264 countries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86600" y="5029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DAIPAYAN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CHATTERJEE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086600" y="17373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Economics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Economics &amp; Econometrics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2468880"/>
            <a:ext cx="347472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807208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516368" y="27706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daipayanchatterjee01@gmail.com</a:t>
            </a:r>
            <a:endParaRPr lang="en-US" sz="11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3767328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516368" y="37307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github.com/dchatterjee01-prog</a:t>
            </a:r>
            <a:endParaRPr lang="en-US" sz="11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72744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516368" y="4690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economics-of-abundant-intelligence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.streamlit.app</a:t>
            </a:r>
            <a:endParaRPr lang="en-US" sz="11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568756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16368" y="56509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dchatterjee01-prog/economics-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of-abundant-intelligence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995160" y="64008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264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6995160" y="66568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275320" y="64008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6,774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8275320" y="66568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9555480" y="64008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9555480" y="66568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835640" y="64008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2050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10835640" y="66568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Economics of Abundant Intelligence</dc:title>
  <dc:subject>Global Evidence on Income Stability and Career Sustainability in the AI Era</dc:subject>
  <dc:creator>Daipayan Chatterjee</dc:creator>
  <cp:lastModifiedBy>Daipayan Chatterjee</cp:lastModifiedBy>
  <cp:revision>1</cp:revision>
  <dcterms:created xsi:type="dcterms:W3CDTF">2026-06-15T00:48:23Z</dcterms:created>
  <dcterms:modified xsi:type="dcterms:W3CDTF">2026-06-15T00:48:23Z</dcterms:modified>
</cp:coreProperties>
</file>